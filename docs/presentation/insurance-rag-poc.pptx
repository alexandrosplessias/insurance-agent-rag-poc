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slide. Speaker introduces themselves and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Speaker invites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ACME Insurances · Local RAG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</a:rPr>
              <a:t>A locally-running agentic assistant for branch operators</a:t>
            </a:r>
          </a:p>
          <a:p>
            <a:r>
              <a:rPr sz="18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800" b="0" i="0">
                <a:solidFill>
                  <a:srgbClr val="222222"/>
                </a:solidFill>
              </a:rPr>
              <a:t>Answers policy &amp; KPI questions in seconds</a:t>
            </a:r>
          </a:p>
          <a:p>
            <a:pPr/>
            <a:r>
              <a:rPr sz="1800" b="0" i="0">
                <a:solidFill>
                  <a:srgbClr val="222222"/>
                </a:solidFill>
              </a:rPr>
              <a:t>Cites the exact paragraph it used</a:t>
            </a:r>
          </a:p>
          <a:p>
            <a:pPr/>
            <a:r>
              <a:rPr sz="1800" b="0" i="0">
                <a:solidFill>
                  <a:srgbClr val="222222"/>
                </a:solidFill>
              </a:rPr>
              <a:t>Logs every decision for compliance review</a:t>
            </a:r>
          </a:p>
          <a:p>
            <a:pPr/>
            <a:r>
              <a:rPr sz="1800" b="0" i="0">
                <a:solidFill>
                  <a:srgbClr val="222222"/>
                </a:solidFill>
              </a:rPr>
              <a:t>Runs 100% on the workstation — nothing leaves the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this PoC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 i="0">
                <a:solidFill>
                  <a:srgbClr val="222222"/>
                </a:solidFill>
              </a:rPr>
              <a:t>Branch employees spend hours every day looking up policy clauses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Lookups are slow, inconsistent, and impossible to audit after the fact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This assistant answers in seconds with citations + audit trail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Local-only — no PII or document content ever leaves the workstation</a:t>
            </a:r>
          </a:p>
        </p:txBody>
      </p:sp>
      <p:pic>
        <p:nvPicPr>
          <p:cNvPr id="5" name="Picture 4" descr="10.acme-brand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Seven-route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Every question routes to exactly one of seven branches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b="1" sz="1400">
                <a:solidFill>
                  <a:srgbClr val="222222"/>
                </a:solidFill>
              </a:rPr>
              <a:t>RAG</a:t>
            </a:r>
            <a:r>
              <a:rPr sz="1400">
                <a:solidFill>
                  <a:srgbClr val="222222"/>
                </a:solidFill>
              </a:rPr>
              <a:t> — policy questions, year-scoped retrieval, validator + 1 retry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Report</a:t>
            </a:r>
            <a:r>
              <a:rPr sz="1400">
                <a:solidFill>
                  <a:srgbClr val="222222"/>
                </a:solidFill>
              </a:rPr>
              <a:t> — single-policy summary OR executive annual report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Data</a:t>
            </a:r>
            <a:r>
              <a:rPr sz="1400">
                <a:solidFill>
                  <a:srgbClr val="222222"/>
                </a:solidFill>
              </a:rPr>
              <a:t> — quantitative questions over the KPI dataset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Clarifier</a:t>
            </a:r>
            <a:r>
              <a:rPr sz="1400">
                <a:solidFill>
                  <a:srgbClr val="222222"/>
                </a:solidFill>
              </a:rPr>
              <a:t> — one targeted question when the year is missing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Out-of-year fallback</a:t>
            </a:r>
            <a:r>
              <a:rPr sz="1400">
                <a:solidFill>
                  <a:srgbClr val="222222"/>
                </a:solidFill>
              </a:rPr>
              <a:t> — graceful refusal for the 2023 gap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Decline</a:t>
            </a:r>
            <a:r>
              <a:rPr sz="1400">
                <a:solidFill>
                  <a:srgbClr val="222222"/>
                </a:solidFill>
              </a:rPr>
              <a:t> — out-of-scope handled politely</a:t>
            </a:r>
          </a:p>
        </p:txBody>
      </p:sp>
      <p:pic>
        <p:nvPicPr>
          <p:cNvPr id="5" name="Picture 4" descr="11.full-topology-st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LangGraph — compiled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The seven-route topology as the actual compiled graph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Source of truth: [`poc/app/graph/builder.py`](../../poc/app/graph/builder.py)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Per-node contracts (MUST / MUST-NOT): [`docs/agent_topology.md`](../agent_topology.md)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Colour code: 🟦 router · 🟩 worker · 🟧 guard · ⬛ terminal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Every node carries an OTel span; every edge is auditable</a:t>
            </a:r>
          </a:p>
        </p:txBody>
      </p:sp>
      <p:pic>
        <p:nvPicPr>
          <p:cNvPr id="5" name="Picture 4" descr="20.langgraph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Year-aware retrieval &amp; clarifier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Knowledge base covers 2020 · 2021 · 2022 · 2024 — the 2023 gap is intentional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*"What's the refund window?"* → clarifier asks the year (no silent guess)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*"2024"* reply → stitched onto the original question, routed to RAG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*"What does the 2023 policy say?"* → refused **before any LLM call**</a:t>
            </a:r>
          </a:p>
        </p:txBody>
      </p:sp>
      <p:pic>
        <p:nvPicPr>
          <p:cNvPr id="5" name="Picture 4" descr="12.clarifier-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Talk-to-Data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Quantitative answers over 14 KPIs — without letting the LLM touch pandas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Planner LLM emits a **typed Operation JSON**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A hand-written pandas executor consumes it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Five schema-aware guards (no `sum` on rates, no 2023, …)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Drill-down via prompt patch-mode (*"now break by product"*)</a:t>
            </a:r>
          </a:p>
        </p:txBody>
      </p:sp>
      <p:pic>
        <p:nvPicPr>
          <p:cNvPr id="5" name="Picture 4" descr="13.data-turn-with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Drill-down — inherited /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Every follow-up shows what carried over and what changed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b="1" sz="1400">
                <a:solidFill>
                  <a:srgbClr val="222222"/>
                </a:solidFill>
              </a:rPr>
              <a:t>Inherited:</a:t>
            </a:r>
            <a:r>
              <a:rPr sz="1400">
                <a:solidFill>
                  <a:srgbClr val="222222"/>
                </a:solidFill>
              </a:rPr>
              <a:t> metric · filters · aggregation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Changed:</a:t>
            </a:r>
            <a:r>
              <a:rPr sz="1400">
                <a:solidFill>
                  <a:srgbClr val="222222"/>
                </a:solidFill>
              </a:rPr>
              <a:t> group_by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Compliance reviewers can replay any answer by re-running the</a:t>
            </a:r>
          </a:p>
          <a:p>
            <a:r>
              <a:rPr sz="1400" b="0" i="0">
                <a:solidFill>
                  <a:srgbClr val="222222"/>
                </a:solidFill>
              </a:rPr>
              <a:t>  Operation against the same `csv_sha256`</a:t>
            </a:r>
          </a:p>
        </p:txBody>
      </p:sp>
      <p:pic>
        <p:nvPicPr>
          <p:cNvPr id="5" name="Picture 4" descr="14.data-drilldown-c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annual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Section-by-section pipeline · three delivery formats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Collector → Narrator → Assemble → Writers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Per-section LLM grounding — the model is bounded to ONE section</a:t>
            </a:r>
          </a:p>
          <a:p>
            <a:r>
              <a:rPr sz="1400" b="0" i="0">
                <a:solidFill>
                  <a:srgbClr val="222222"/>
                </a:solidFill>
              </a:rPr>
              <a:t>  at a time and only sees that section's structured inputs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Three writers from one source: Markdown · DOCX · PDF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`report_run_id = sha256(year + csv_sha + git_sha)[:12]` in the footer</a:t>
            </a:r>
          </a:p>
        </p:txBody>
      </p:sp>
      <p:pic>
        <p:nvPicPr>
          <p:cNvPr id="5" name="Picture 4" descr="15.executive-report-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Risk indicators — deterministic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Severity is band lookup, never LLM-decided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🟢 Loss ratio  ·  🟡 Settlement drift  ·  🔴 Compliance incidents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All five thresholds hand-coded in `thresholds.py`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Single point of LLM-free trust in the whole report</a:t>
            </a:r>
          </a:p>
        </p:txBody>
      </p:sp>
      <p:pic>
        <p:nvPicPr>
          <p:cNvPr id="5" name="Picture 4" descr="16.executive-risk-ba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DOCX · PDF · MD downloads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Three buttons under every executive report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Same `ReportDocument` rendered to all three formats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API endpoint `GET /reports/{year}.{md|docx|pdf}` for direct downloads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Run-id caption: *"same id = same numbers"*</a:t>
            </a:r>
          </a:p>
        </p:txBody>
      </p:sp>
      <p:pic>
        <p:nvPicPr>
          <p:cNvPr id="5" name="Picture 4" descr="17.executive-down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Observability — every decision in Aspire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OpenTelemetry traces, logs, and metrics out of the box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One trace per chat turn — supervisor → worker → validator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LangChain calls auto-instrumented (prompts, completions, tokens)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Custom spans per node + per sub-step (reformulate / retrieve / answer)</a:t>
            </a:r>
          </a:p>
        </p:txBody>
      </p:sp>
      <p:pic>
        <p:nvPicPr>
          <p:cNvPr id="5" name="Picture 4" descr="18.aspire-tr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Audit trail — compliance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Every routing / retrieval / validation / data / report decision recorded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`data/audit.sqlite` — separate from conversation memory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Each row carries the OTel `trace_id` for cross-reference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`python scripts/audit_export.py` → CSV ready for PowerBI / Splunk</a:t>
            </a:r>
          </a:p>
          <a:p>
            <a:pPr/>
            <a:r>
              <a:rPr sz="1400" b="0" i="0">
                <a:solidFill>
                  <a:srgbClr val="222222"/>
                </a:solidFill>
              </a:rPr>
              <a:t>*"Why did the model reason this way?"* — answerable weeks later</a:t>
            </a:r>
          </a:p>
        </p:txBody>
      </p:sp>
      <p:pic>
        <p:nvPicPr>
          <p:cNvPr id="5" name="Picture 4" descr="19.audit-export-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I enjoyed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>
                <a:solidFill>
                  <a:srgbClr val="222222"/>
                </a:solidFill>
              </a:rPr>
              <a:t>Full open-source constraint.</a:t>
            </a:r>
            <a:r>
              <a:rPr sz="1800">
                <a:solidFill>
                  <a:srgbClr val="222222"/>
                </a:solidFill>
              </a:rPr>
              <a:t> Zero paid LLM APIs. Every design</a:t>
            </a:r>
          </a:p>
          <a:p>
            <a:r>
              <a:rPr sz="1800" b="0" i="0">
                <a:solidFill>
                  <a:srgbClr val="222222"/>
                </a:solidFill>
              </a:rPr>
              <a:t>  ran through the "does this still work on a local 7B model?" filter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Diagram-first design.</a:t>
            </a:r>
            <a:r>
              <a:rPr sz="1800">
                <a:solidFill>
                  <a:srgbClr val="222222"/>
                </a:solidFill>
              </a:rPr>
              <a:t> Drawing the state machine before the code</a:t>
            </a:r>
          </a:p>
          <a:p>
            <a:r>
              <a:rPr sz="1800" b="0" i="0">
                <a:solidFill>
                  <a:srgbClr val="222222"/>
                </a:solidFill>
              </a:rPr>
              <a:t>  shaped what got built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"View chunk" + Download PDF.</a:t>
            </a:r>
            <a:r>
              <a:rPr sz="1800">
                <a:solidFill>
                  <a:srgbClr val="222222"/>
                </a:solidFill>
              </a:rPr>
              <a:t> Compliance plumbing disguised as UX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Chunker telemetry in Aspire.</a:t>
            </a:r>
            <a:r>
              <a:rPr sz="1800">
                <a:solidFill>
                  <a:srgbClr val="222222"/>
                </a:solidFill>
              </a:rPr>
              <a:t> Sections, chunks kept vs skipped,</a:t>
            </a:r>
          </a:p>
          <a:p>
            <a:r>
              <a:rPr sz="1800" b="0" i="0">
                <a:solidFill>
                  <a:srgbClr val="222222"/>
                </a:solidFill>
              </a:rPr>
              <a:t>  embedding spans — all visible without a separate dashboard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A real BO-grade report from a 7B model.</a:t>
            </a:r>
            <a:r>
              <a:rPr sz="1800">
                <a:solidFill>
                  <a:srgbClr val="222222"/>
                </a:solidFill>
              </a:rPr>
              <a:t> Markdown + chart +</a:t>
            </a:r>
          </a:p>
          <a:p>
            <a:r>
              <a:rPr sz="1800" b="0" i="0">
                <a:solidFill>
                  <a:srgbClr val="222222"/>
                </a:solidFill>
              </a:rPr>
              <a:t>  Operation expander — a deliberate squeeze of a small local model</a:t>
            </a:r>
          </a:p>
          <a:p>
            <a:r>
              <a:rPr sz="1800" b="0" i="0">
                <a:solidFill>
                  <a:srgbClr val="222222"/>
                </a:solidFill>
              </a:rPr>
              <a:t>  into a serious deliverable shape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Three-format executive report from one source.</a:t>
            </a:r>
            <a:r>
              <a:rPr sz="1800">
                <a:solidFill>
                  <a:srgbClr val="222222"/>
                </a:solidFill>
              </a:rPr>
              <a:t> Same typed</a:t>
            </a:r>
          </a:p>
          <a:p>
            <a:r>
              <a:rPr sz="1800" b="0" i="0">
                <a:solidFill>
                  <a:srgbClr val="222222"/>
                </a:solidFill>
              </a:rPr>
              <a:t>  `ReportDocument` → Markdown / DOCX / PDF. Per-section LLM</a:t>
            </a:r>
          </a:p>
          <a:p>
            <a:r>
              <a:rPr sz="1800" b="0" i="0">
                <a:solidFill>
                  <a:srgbClr val="222222"/>
                </a:solidFill>
              </a:rPr>
              <a:t>  grounding + deterministic risk bands + reproducibility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I would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>
                <a:solidFill>
                  <a:srgbClr val="222222"/>
                </a:solidFill>
              </a:rPr>
              <a:t>Prioritise Talk-to-Data earlier — but guard it with UI affordances.</a:t>
            </a:r>
          </a:p>
          <a:p>
            <a:r>
              <a:rPr sz="1800" b="0" i="0">
                <a:solidFill>
                  <a:srgbClr val="222222"/>
                </a:solidFill>
              </a:rPr>
              <a:t>  Quantitative answers are the highest-value thing the assistant can</a:t>
            </a:r>
          </a:p>
          <a:p>
            <a:r>
              <a:rPr sz="1800" b="0" i="0">
                <a:solidFill>
                  <a:srgbClr val="222222"/>
                </a:solidFill>
              </a:rPr>
              <a:t>  do, and the easiest to get wrong. Surface rows + Operation alongside</a:t>
            </a:r>
          </a:p>
          <a:p>
            <a:r>
              <a:rPr sz="1800" b="0" i="0">
                <a:solidFill>
                  <a:srgbClr val="222222"/>
                </a:solidFill>
              </a:rPr>
              <a:t>  every numeric answer; add quick-pick dimension chips + a metric</a:t>
            </a:r>
          </a:p>
          <a:p>
            <a:r>
              <a:rPr sz="1800" b="0" i="0">
                <a:solidFill>
                  <a:srgbClr val="222222"/>
                </a:solidFill>
              </a:rPr>
              <a:t>  glossary so users are steered into well-formed questions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Use AG-UI as the front-end protocol.</a:t>
            </a:r>
            <a:r>
              <a:rPr sz="1800">
                <a:solidFill>
                  <a:srgbClr val="222222"/>
                </a:solidFill>
              </a:rPr>
              <a:t> Streamlit was the right call</a:t>
            </a:r>
          </a:p>
          <a:p>
            <a:r>
              <a:rPr sz="1800" b="0" i="0">
                <a:solidFill>
                  <a:srgbClr val="222222"/>
                </a:solidFill>
              </a:rPr>
              <a:t>  for a PoC; AG-UI brings streaming tool calls, native human-in-the-loop,</a:t>
            </a:r>
          </a:p>
          <a:p>
            <a:r>
              <a:rPr sz="1800" b="0" i="0">
                <a:solidFill>
                  <a:srgbClr val="222222"/>
                </a:solidFill>
              </a:rPr>
              <a:t>  and a real component model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Azurize the model layer for production.</a:t>
            </a:r>
            <a:r>
              <a:rPr sz="1800">
                <a:solidFill>
                  <a:srgbClr val="222222"/>
                </a:solidFill>
              </a:rPr>
              <a:t> GPT-5.1 for RAG · mini/nano</a:t>
            </a:r>
          </a:p>
          <a:p>
            <a:r>
              <a:rPr sz="1800" b="0" i="0">
                <a:solidFill>
                  <a:srgbClr val="222222"/>
                </a:solidFill>
              </a:rPr>
              <a:t>  for query reformulation · GPT-5.4 / reasoning-medium for the executive</a:t>
            </a:r>
          </a:p>
          <a:p>
            <a:r>
              <a:rPr sz="1800" b="0" i="0">
                <a:solidFill>
                  <a:srgbClr val="222222"/>
                </a:solidFill>
              </a:rPr>
              <a:t>  report (multi-section pipelines benefit disproportionately from a</a:t>
            </a:r>
          </a:p>
          <a:p>
            <a:r>
              <a:rPr sz="1800" b="0" i="0">
                <a:solidFill>
                  <a:srgbClr val="222222"/>
                </a:solidFill>
              </a:rPr>
              <a:t>  reasoning model)</a:t>
            </a:r>
          </a:p>
          <a:p>
            <a:pPr/>
            <a:r>
              <a:rPr b="1" sz="1800">
                <a:solidFill>
                  <a:srgbClr val="222222"/>
                </a:solidFill>
              </a:rPr>
              <a:t>One-shot executive report</a:t>
            </a:r>
            <a:r>
              <a:rPr sz="1800">
                <a:solidFill>
                  <a:srgbClr val="222222"/>
                </a:solidFill>
              </a:rPr>
              <a:t> as a side-by-side experiment against</a:t>
            </a:r>
          </a:p>
          <a:p>
            <a:r>
              <a:rPr sz="1800" b="0" i="0">
                <a:solidFill>
                  <a:srgbClr val="222222"/>
                </a:solidFill>
              </a:rPr>
              <a:t>  the per-section pipeline. The challenge is structural stability; the</a:t>
            </a:r>
          </a:p>
          <a:p>
            <a:r>
              <a:rPr sz="1800" b="0" i="0">
                <a:solidFill>
                  <a:srgbClr val="222222"/>
                </a:solidFill>
              </a:rPr>
              <a:t>  prize is dramatically lower latency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Northstar — production architecture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</a:rPr>
              <a:t>Where this PoC graduates to with Azurized models + cloud infra</a:t>
            </a:r>
          </a:p>
          <a:p>
            <a:r>
              <a:rPr sz="1400" b="0" i="0">
                <a:solidFill>
                  <a:srgbClr val="222222"/>
                </a:solidFill>
              </a:rPr>
              <a:t/>
            </a:r>
          </a:p>
          <a:p>
            <a:pPr/>
            <a:r>
              <a:rPr b="1" sz="1400">
                <a:solidFill>
                  <a:srgbClr val="222222"/>
                </a:solidFill>
              </a:rPr>
              <a:t>RAG generator</a:t>
            </a:r>
            <a:r>
              <a:rPr sz="1400">
                <a:solidFill>
                  <a:srgbClr val="222222"/>
                </a:solidFill>
              </a:rPr>
              <a:t> — GPT-5.1 for grounded answers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Query reformulator</a:t>
            </a:r>
            <a:r>
              <a:rPr sz="1400">
                <a:solidFill>
                  <a:srgbClr val="222222"/>
                </a:solidFill>
              </a:rPr>
              <a:t> — mini / nano model for sub-second latency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Executive report narrator</a:t>
            </a:r>
            <a:r>
              <a:rPr sz="1400">
                <a:solidFill>
                  <a:srgbClr val="222222"/>
                </a:solidFill>
              </a:rPr>
              <a:t> — GPT-5.4 / reasoning-medium (multi-section</a:t>
            </a:r>
          </a:p>
          <a:p>
            <a:r>
              <a:rPr sz="1400" b="0" i="0">
                <a:solidFill>
                  <a:srgbClr val="222222"/>
                </a:solidFill>
              </a:rPr>
              <a:t>  pipelines benefit disproportionately from a reasoning model)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Vector store</a:t>
            </a:r>
            <a:r>
              <a:rPr sz="1400">
                <a:solidFill>
                  <a:srgbClr val="222222"/>
                </a:solidFill>
              </a:rPr>
              <a:t> — Azure AI Search with hybrid retrieval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Telemetry</a:t>
            </a:r>
            <a:r>
              <a:rPr sz="1400">
                <a:solidFill>
                  <a:srgbClr val="222222"/>
                </a:solidFill>
              </a:rPr>
              <a:t> — Azure Monitor + **Langfuse** for LLM-specific signals</a:t>
            </a:r>
          </a:p>
          <a:p>
            <a:pPr/>
            <a:r>
              <a:rPr b="1" sz="1400">
                <a:solidFill>
                  <a:srgbClr val="222222"/>
                </a:solidFill>
              </a:rPr>
              <a:t>Compliance</a:t>
            </a:r>
            <a:r>
              <a:rPr sz="1400">
                <a:solidFill>
                  <a:srgbClr val="222222"/>
                </a:solidFill>
              </a:rPr>
              <a:t> — EU AI Act record-keeping via immutable Blob Storage</a:t>
            </a:r>
          </a:p>
        </p:txBody>
      </p:sp>
      <p:pic>
        <p:nvPicPr>
          <p:cNvPr id="5" name="Picture 4" descr="21.azure-north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6400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</a:rPr>
              <a:t>Questions, demo requests, code review — happy to dive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</a:rPr>
              <a:t>ACME Insurances · Local RAG PoC · slide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